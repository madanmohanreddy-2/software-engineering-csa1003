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0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5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58.png"/><Relationship Id="rId5" Type="http://schemas.openxmlformats.org/officeDocument/2006/relationships/image" Target="../media/image20.png"/><Relationship Id="rId10" Type="http://schemas.openxmlformats.org/officeDocument/2006/relationships/image" Target="../media/image57.png"/><Relationship Id="rId4" Type="http://schemas.openxmlformats.org/officeDocument/2006/relationships/image" Target="../media/image19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8.png"/><Relationship Id="rId4" Type="http://schemas.openxmlformats.org/officeDocument/2006/relationships/image" Target="../media/image64.png"/><Relationship Id="rId9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7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71.png"/><Relationship Id="rId5" Type="http://schemas.openxmlformats.org/officeDocument/2006/relationships/image" Target="../media/image20.png"/><Relationship Id="rId10" Type="http://schemas.openxmlformats.org/officeDocument/2006/relationships/image" Target="../media/image70.png"/><Relationship Id="rId4" Type="http://schemas.openxmlformats.org/officeDocument/2006/relationships/image" Target="../media/image19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6.png"/><Relationship Id="rId7" Type="http://schemas.openxmlformats.org/officeDocument/2006/relationships/image" Target="../media/image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0" Type="http://schemas.openxmlformats.org/officeDocument/2006/relationships/image" Target="../media/image82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7.png"/><Relationship Id="rId10" Type="http://schemas.openxmlformats.org/officeDocument/2006/relationships/image" Target="../media/image91.png"/><Relationship Id="rId4" Type="http://schemas.openxmlformats.org/officeDocument/2006/relationships/image" Target="../media/image86.png"/><Relationship Id="rId9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3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8.png"/><Relationship Id="rId7" Type="http://schemas.openxmlformats.org/officeDocument/2006/relationships/image" Target="../media/image98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02.png"/><Relationship Id="rId7" Type="http://schemas.openxmlformats.org/officeDocument/2006/relationships/image" Target="../media/image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11" Type="http://schemas.openxmlformats.org/officeDocument/2006/relationships/image" Target="../media/image107.png"/><Relationship Id="rId5" Type="http://schemas.openxmlformats.org/officeDocument/2006/relationships/image" Target="../media/image50.png"/><Relationship Id="rId10" Type="http://schemas.openxmlformats.org/officeDocument/2006/relationships/image" Target="../media/image106.png"/><Relationship Id="rId4" Type="http://schemas.openxmlformats.org/officeDocument/2006/relationships/image" Target="../media/image49.png"/><Relationship Id="rId9" Type="http://schemas.openxmlformats.org/officeDocument/2006/relationships/image" Target="../media/image10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6535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2688133"/>
            <a:ext cx="111252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650" b="0" i="0" u="none" dirty="0">
                <a:solidFill>
                  <a:srgbClr val="38BDF8"/>
                </a:solidFill>
                <a:latin typeface="Inter SemiBold"/>
              </a:rPr>
              <a:t>                                                                                      </a:t>
            </a:r>
            <a:r>
              <a:rPr sz="1650" b="0" i="0" u="none" dirty="0">
                <a:solidFill>
                  <a:srgbClr val="38BDF8"/>
                </a:solidFill>
                <a:latin typeface="Inter SemiBold"/>
              </a:rPr>
              <a:t>SEMINAR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3164383"/>
            <a:ext cx="1165860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967"/>
              </a:lnSpc>
            </a:pPr>
            <a:r>
              <a:rPr lang="en-IN" sz="3450" b="0" i="0" u="none" dirty="0">
                <a:solidFill>
                  <a:srgbClr val="FFFFFF"/>
                </a:solidFill>
                <a:latin typeface="Plus Jakarta Sans ExtraBold"/>
              </a:rPr>
              <a:t>                      </a:t>
            </a:r>
            <a:r>
              <a:rPr sz="4400" b="0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Wearable Computing and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4400" b="0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0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sz="4400" b="0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Wearable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286250"/>
            <a:ext cx="7620000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3B8FF-9EF0-B04D-9976-F3B11DA195F3}"/>
              </a:ext>
            </a:extLst>
          </p:cNvPr>
          <p:cNvSpPr txBox="1"/>
          <p:nvPr/>
        </p:nvSpPr>
        <p:spPr>
          <a:xfrm>
            <a:off x="9576620" y="4983982"/>
            <a:ext cx="36168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CSA1003</a:t>
            </a:r>
            <a:endParaRPr lang="en-IN" sz="2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Madan Mohan </a:t>
            </a:r>
          </a:p>
          <a:p>
            <a:r>
              <a:rPr lang="en-IN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192411206</a:t>
            </a:r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24050"/>
            <a:ext cx="53911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2247900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Wearable Computing: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Electronic devices worn directly on the human body or integrated into everyday clothing.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838450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Smart Devices: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Equipped with microcontrollers, biosensors, wireless modules, and internal memory for real-time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429000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Key Difference: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Unlike smartphones, wearables collect data hands-free and continuously without user interaction.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019550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Popular Examples: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Smartwatches, fitness bands, smart rings, and smart glasses.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4900612"/>
            <a:ext cx="123825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300" y="4810125"/>
            <a:ext cx="4905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Emphasize that wearables run silently in the background while staying attached to the user.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1933575"/>
            <a:ext cx="537210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Introduction to Wearable Computing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26695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85750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44805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0386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2347912"/>
            <a:ext cx="1112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Wearables evolved from basic mechanical tools into sophisticated AI-powered personal assistants over several decades.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48075"/>
            <a:ext cx="103632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4876800"/>
            <a:ext cx="123825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4862512"/>
            <a:ext cx="6753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Point out how hardware miniaturization made it possible to fit powerful sensors into small wristwear.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30" y="3052762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7049" y="3719512"/>
            <a:ext cx="96121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1970s - 1980s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938587"/>
            <a:ext cx="16686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Calculator watches &amp; digital wristwatches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165" y="3052762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11178" y="3719512"/>
            <a:ext cx="104122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1990s - 2000s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7534" y="3938587"/>
            <a:ext cx="16686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Early chest straps &amp; basic pedometers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3052762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78320" y="3719512"/>
            <a:ext cx="43521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2010s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1669" y="3938587"/>
            <a:ext cx="16686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Fitness trackers (Fitbit, Jawbone Era)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434" y="3052762"/>
            <a:ext cx="533400" cy="533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26490" y="3719512"/>
            <a:ext cx="86713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2015 - 2020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5804" y="3938587"/>
            <a:ext cx="16686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Modern Smartwatches &amp; Smart Glasses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569" y="3052762"/>
            <a:ext cx="533400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53108" y="3719512"/>
            <a:ext cx="114217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Present / Future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9939" y="3938587"/>
            <a:ext cx="16686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AI Smart Rings, Health Patches &amp; AR/VR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6292" y="3224212"/>
            <a:ext cx="14287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6615" y="3224212"/>
            <a:ext cx="19050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275" y="3224212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4884" y="3224212"/>
            <a:ext cx="1905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29019" y="3224212"/>
            <a:ext cx="19050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Evolution of Wearable Technology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47875"/>
            <a:ext cx="3555950" cy="1276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047875"/>
            <a:ext cx="3555950" cy="1276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047875"/>
            <a:ext cx="3556099" cy="1276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552825"/>
            <a:ext cx="3555950" cy="1276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3552825"/>
            <a:ext cx="3555950" cy="1276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500" y="3552825"/>
            <a:ext cx="3556099" cy="1276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5176837"/>
            <a:ext cx="12382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5162550"/>
            <a:ext cx="605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Explain that preventive healthcare is the biggest driver behind consumer adoption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801" y="2247900"/>
            <a:ext cx="295724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Continuous Health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524125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Enables 24/7 tracking of vital signs like heart rate, oxygen levels, and sleep patterns for early disease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8402" y="2247900"/>
            <a:ext cx="2937242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Hands-Free Convenience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075" y="2524125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Allows users to receive calls, view notifications, and navigate without frequently holding a phone.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7227" y="2247900"/>
            <a:ext cx="3027409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Active Fitness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0625" y="2524125"/>
            <a:ext cx="3079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Encourages healthier lifestyles by setting step goals, tracking burned calories, and guiding workouts.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4801" y="3752850"/>
            <a:ext cx="295724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Safety &amp; Fall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029075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Detects sudden falls or accidents and sends automated emergency alerts with GPS location to contacts.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8402" y="3752850"/>
            <a:ext cx="2937242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Remote Patient 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6075" y="4029075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Helps doctors monitor elderly or chronic disease patients remotely, reducing unnecessary hospital visits.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4852" y="3752850"/>
            <a:ext cx="2977403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Enhanced Productivity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5" y="4029075"/>
            <a:ext cx="30798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Provides instant alerts and voice commands to boost personal efficiency at work or during tasks.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2271712"/>
            <a:ext cx="168026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6075" y="2271712"/>
            <a:ext cx="187076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0625" y="2271712"/>
            <a:ext cx="101351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3776662"/>
            <a:ext cx="168026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6075" y="3776662"/>
            <a:ext cx="187076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0625" y="3776662"/>
            <a:ext cx="148976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Need and Motivation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45506"/>
            <a:ext cx="1576387" cy="9763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162" y="2145506"/>
            <a:ext cx="1576387" cy="9763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925" y="2193131"/>
            <a:ext cx="1576387" cy="8810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87" y="2145506"/>
            <a:ext cx="1576387" cy="9763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450" y="2145506"/>
            <a:ext cx="1576387" cy="9763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2212" y="2145506"/>
            <a:ext cx="1576387" cy="976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445668"/>
            <a:ext cx="5391150" cy="1323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7450" y="3445668"/>
            <a:ext cx="5391150" cy="1323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5079206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6300" y="5064918"/>
            <a:ext cx="7038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Walk through the flow step-by-step: Sensor records body data → MCU filters noise → Transmits via BLE.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6818" y="2316956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4007" y="2602706"/>
            <a:ext cx="137517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1. Sensors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793206"/>
            <a:ext cx="1309687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Inter"/>
              </a:rPr>
              <a:t>PPG, Accelerometer, ECG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4087" y="2552700"/>
            <a:ext cx="1047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40868" y="2316956"/>
            <a:ext cx="18097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43770" y="2602706"/>
            <a:ext cx="137517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2. Data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6512" y="2793206"/>
            <a:ext cx="1309687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Inter"/>
              </a:rPr>
              <a:t>Raw Analog Signals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33850" y="2552700"/>
            <a:ext cx="104775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53532" y="2555081"/>
            <a:ext cx="137517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3. On-Board MCU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6275" y="2745581"/>
            <a:ext cx="1309687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Inter"/>
              </a:rPr>
              <a:t>Signal Filtering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43612" y="2552700"/>
            <a:ext cx="104775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17531" y="2316956"/>
            <a:ext cx="266700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63295" y="2602706"/>
            <a:ext cx="137517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4. Bluetooth/BLE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6037" y="2793206"/>
            <a:ext cx="1309687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Inter"/>
              </a:rPr>
              <a:t>Wireless Transfer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53375" y="2552700"/>
            <a:ext cx="104775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27293" y="2316956"/>
            <a:ext cx="266700" cy="2095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73057" y="2602706"/>
            <a:ext cx="137517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5. Mobile /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5800" y="2793206"/>
            <a:ext cx="1309687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Inter"/>
              </a:rPr>
              <a:t>AI Analysis &amp; Storage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63137" y="2552700"/>
            <a:ext cx="104775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89443" y="2316956"/>
            <a:ext cx="161925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182820" y="2602706"/>
            <a:ext cx="137517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6. User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5562" y="2793206"/>
            <a:ext cx="1309687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Inter"/>
              </a:rPr>
              <a:t>App UI &amp; Vibration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625" y="3721893"/>
            <a:ext cx="5080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Signal Processing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625" y="4036218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Sensors capture physical body parameters (like blood flow or acceleration) and convert them into digital data for processing.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3675" y="3721893"/>
            <a:ext cx="5080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Cloud Synchronisation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3675" y="4036218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Data is synced wirelessly via Bluetooth Low Energy (BLE) to mobile apps and cloud databases for long-term health trends.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Working Principle &amp; Architecture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457200"/>
            <a:ext cx="584073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Hardware Components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3048000" cy="190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" y="1914525"/>
            <a:ext cx="5295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Biosensors: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Optical PPG (heart rate), ECG electrodes, SpO2 pulse oximeters, and skin temperature sensors.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524125"/>
            <a:ext cx="5295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Motion Sensors: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3-axis Accelerometers, Gyroscopes, and Magnetometers to detect physical steps and activity.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133725"/>
            <a:ext cx="5295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Processing Unit: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Low-power Microcontrollers (ARM Cortex-M) optimized for continuous sensor readings.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743325"/>
            <a:ext cx="5295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Connectivity: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Bluetooth Low Energy (BLE), Wi-Fi, NFC (for digital payments), and GPS location modules.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352925"/>
            <a:ext cx="5295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Power Source: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Compact Lithium-ion/Polymer batteries designed for power efficiency.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5233987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6300" y="5143500"/>
            <a:ext cx="50768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Highlight that BLE (Bluetooth Low Energy) is essential because normal Bluetooth drains battery quickly.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93357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543175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152775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762375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37197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85987"/>
            <a:ext cx="5467350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185987"/>
            <a:ext cx="5467350" cy="107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452812"/>
            <a:ext cx="5467350" cy="1276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452812"/>
            <a:ext cx="5467350" cy="1276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5038725"/>
            <a:ext cx="123825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5024437"/>
            <a:ext cx="8239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Smart rings are currently the fastest-growing form factor because they are lightweight and comfortable to wear during sleep.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751" y="2386012"/>
            <a:ext cx="4984216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Smartwatches &amp; Fitness Bands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662237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Examples: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Apple Watch, Samsung Galaxy Watch, Fitbit.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Uses: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Step counting, heart rate, workouts, and smartphone notifications.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1701" y="2386012"/>
            <a:ext cx="4944211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Smart Glasses &amp; AR Headsets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2662237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Examples: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Ray-Ban Meta, Google Glass, Apple Vision Pro.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Uses: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Navigation overlay, hands-free video capture, and augmented reality.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4801" y="3652837"/>
            <a:ext cx="496421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Smart Rings &amp; Jewelry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929062"/>
            <a:ext cx="49911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Examples: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Oura Ring, Ultrahuman Ring Air.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Uses: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Discrete sleep tracking, body temperature monitoring, and recovery scores.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0276" y="3652837"/>
            <a:ext cx="4914207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Smart Clothing &amp; Medical Patches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929062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Examples: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Sensoria smart socks, Dexcom CGM glucose patches.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Uses: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Athlete posture analysis and continuous blood sugar monitoring.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409825"/>
            <a:ext cx="14897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409825"/>
            <a:ext cx="18707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3676650"/>
            <a:ext cx="168026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3676650"/>
            <a:ext cx="215651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Types of Smart Wearables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47875"/>
            <a:ext cx="3555950" cy="1276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047875"/>
            <a:ext cx="3555950" cy="1276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047875"/>
            <a:ext cx="3556099" cy="1276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552825"/>
            <a:ext cx="3555950" cy="1276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3552825"/>
            <a:ext cx="3555950" cy="1276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500" y="3552825"/>
            <a:ext cx="3556099" cy="1276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5176837"/>
            <a:ext cx="12382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5162550"/>
            <a:ext cx="579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Mention how Apple Watch AFib notifications have already saved many lives globally.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751" y="2247900"/>
            <a:ext cx="2977247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Healthcare &amp; Hospitals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524125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Continuous ECG monitoring flags Atrial Fibrillation (AFib) early; glucose sensors remove need for fingerpricks.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6977" y="2247900"/>
            <a:ext cx="2907238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Sports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075" y="2524125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Athletes analyze heart rate variability (HRV), stamina levels, and muscle exertion to optimize daily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952" y="2247900"/>
            <a:ext cx="2937398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Workplace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0625" y="2524125"/>
            <a:ext cx="3079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Industrial workers wear smart helmets to monitor fatigue, toxic gas exposure, and dangerous physical slips.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4801" y="3752850"/>
            <a:ext cx="295724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Defense &amp; Military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029075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Field soldiers wear biosensors to track hydration, stress under combat, and precise squad GPS positioning.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8402" y="3752850"/>
            <a:ext cx="2937242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Contactless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6075" y="4029075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Smartwatches and rings use NFC technology to allow secure tap-to-pay transactions at retail stores.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1527" y="3752850"/>
            <a:ext cx="290739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Education &amp; 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5" y="4029075"/>
            <a:ext cx="3079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Smart glasses assist medical students during virtual surgical practice with real-time HUD instructions.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2271712"/>
            <a:ext cx="148976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6075" y="2271712"/>
            <a:ext cx="215651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0625" y="2271712"/>
            <a:ext cx="187076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3776662"/>
            <a:ext cx="168026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6075" y="3776662"/>
            <a:ext cx="187076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0625" y="3776662"/>
            <a:ext cx="215651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Real-World Applications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81262"/>
            <a:ext cx="5429250" cy="1914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481262"/>
            <a:ext cx="5429250" cy="1914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4743450"/>
            <a:ext cx="123825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4729162"/>
            <a:ext cx="8115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Be balanced: While benefits are high, battery consumption and privacy are major challenges engineers are actively solving.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719387"/>
            <a:ext cx="5200650" cy="238125"/>
          </a:xfrm>
          <a:prstGeom prst="rect">
            <a:avLst/>
          </a:prstGeom>
          <a:noFill/>
        </p:spPr>
        <p:txBody>
          <a:bodyPr wrap="square" lIns="186779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5803D"/>
                </a:solidFill>
                <a:latin typeface="Plus Jakarta Sans"/>
              </a:rPr>
              <a:t>Key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7475" y="2719387"/>
            <a:ext cx="5200650" cy="238125"/>
          </a:xfrm>
          <a:prstGeom prst="rect">
            <a:avLst/>
          </a:prstGeom>
          <a:noFill/>
        </p:spPr>
        <p:txBody>
          <a:bodyPr wrap="square" lIns="186779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B91C1C"/>
                </a:solidFill>
                <a:latin typeface="Plus Jakarta Sans"/>
              </a:rPr>
              <a:t>Key Limitations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757487"/>
            <a:ext cx="186779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075" y="3071812"/>
            <a:ext cx="47434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Real-Time Tracking: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Provides immediate feedback on health and 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3367087"/>
            <a:ext cx="47434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High Portability: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Lightweight and comfortable for all-day continuous wear.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662362"/>
            <a:ext cx="47434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Personalized Insights: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AI learns individual baseline body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957637"/>
            <a:ext cx="47434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Emergency Assistance: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Automated SOS calls during accidents or falls.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2757487"/>
            <a:ext cx="186779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67500" y="3071812"/>
            <a:ext cx="47529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Battery Life Constraints: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Requires frequent daily or weekly charging.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3367087"/>
            <a:ext cx="47529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Data Privacy Risks: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Sensitive biometric data can be exposed to breaches.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3662362"/>
            <a:ext cx="47529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High Cost: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Advanced medical-grade wearables are expensive.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3957637"/>
            <a:ext cx="47529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Sensor Noise: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Body motion during vigorous exercise causes signal noise.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100387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395662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690937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986212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3100387"/>
            <a:ext cx="1047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3395662"/>
            <a:ext cx="1047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3690937"/>
            <a:ext cx="1047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3986212"/>
            <a:ext cx="104775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Advantages and Limitations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47875"/>
            <a:ext cx="3555950" cy="1276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047875"/>
            <a:ext cx="3555950" cy="1276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047875"/>
            <a:ext cx="3556099" cy="1276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552825"/>
            <a:ext cx="3555950" cy="1276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3552825"/>
            <a:ext cx="3555950" cy="1276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500" y="3552825"/>
            <a:ext cx="3556099" cy="1276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5176837"/>
            <a:ext cx="12382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5162550"/>
            <a:ext cx="7543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On-device AI means your watch can analyze health data locally without sending every single file to cloud servers.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851" y="2247900"/>
            <a:ext cx="2937242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On-Device AI Assistance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524125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Generative AI summaries of daily health reports and personalized workout advice directly on smartwatches.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1252" y="2247900"/>
            <a:ext cx="2997249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Non-Invasive Glucose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075" y="2524125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Development of optical sensors capable of estimating blood sugar levels without drawing blood drops.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4852" y="2247900"/>
            <a:ext cx="2977403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Flexible &amp; Electronic Skin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0625" y="2524125"/>
            <a:ext cx="30798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Ultra-thin, stretchable electronic patches that stick directly to skin like temporary tattoos.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851" y="3752850"/>
            <a:ext cx="2937242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Energy Harvesting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029075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Research into charging devices using body heat (thermoelectric) and kinetic arm movements.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302" y="3752850"/>
            <a:ext cx="2977247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Smart E-Textiles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6075" y="4029075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Conductive threads woven directly into shirts and jackets to measure breathing and posture seamlessly.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1527" y="3752850"/>
            <a:ext cx="290739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On-Device Edge Computing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5" y="4029075"/>
            <a:ext cx="3079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Running lightweight machine learning models locally on microcontrollers to save battery and boost privacy.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2271712"/>
            <a:ext cx="187076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6075" y="2271712"/>
            <a:ext cx="129926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0625" y="2271712"/>
            <a:ext cx="148976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3776662"/>
            <a:ext cx="187076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6075" y="3776662"/>
            <a:ext cx="148976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0625" y="3776662"/>
            <a:ext cx="215651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Recent Developments and Trends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47825"/>
            <a:ext cx="5391150" cy="2105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762125"/>
            <a:ext cx="5391150" cy="1876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943350"/>
            <a:ext cx="5391150" cy="1323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3943350"/>
            <a:ext cx="5391150" cy="1323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5576887"/>
            <a:ext cx="123825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5562600"/>
            <a:ext cx="7315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Explain motion artifact: When you run fast, the watch shakes on your wrist, making optical light sensing tricky.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1924050"/>
            <a:ext cx="5080635" cy="238125"/>
          </a:xfrm>
          <a:prstGeom prst="rect">
            <a:avLst/>
          </a:prstGeom>
          <a:noFill/>
        </p:spPr>
        <p:txBody>
          <a:bodyPr wrap="square" lIns="167729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Data Privacy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238375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Biometric information (heart rate, location) is sensitive. Unencrypted Bluetooth transmission can lead to cyber eavesdropping.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019425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Solution: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Implementing end-to-end encryption and lightweight cryptographic protocols on microcontrollers.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2038350"/>
            <a:ext cx="5080635" cy="238125"/>
          </a:xfrm>
          <a:prstGeom prst="rect">
            <a:avLst/>
          </a:prstGeom>
          <a:noFill/>
        </p:spPr>
        <p:txBody>
          <a:bodyPr wrap="square" lIns="215354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Power &amp; Form 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352675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Users expect tiny, lightweight devices, but larger batteries are required for multi-day usage and bright displays.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2905125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Solution: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Ultra-low power hardware sleep modes and low-power displays (AMOLED / e-ink).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219575"/>
            <a:ext cx="5080635" cy="238125"/>
          </a:xfrm>
          <a:prstGeom prst="rect">
            <a:avLst/>
          </a:prstGeom>
          <a:noFill/>
        </p:spPr>
        <p:txBody>
          <a:bodyPr wrap="square" lIns="186779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Sensor Accuracy &amp;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53390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Sweat, arm movements, and loose wrist straps create motion artifacts, corrupting optical heart rate calculations.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4219575"/>
            <a:ext cx="5080635" cy="238125"/>
          </a:xfrm>
          <a:prstGeom prst="rect">
            <a:avLst/>
          </a:prstGeom>
          <a:noFill/>
        </p:spPr>
        <p:txBody>
          <a:bodyPr wrap="square" lIns="234404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Medical Regulatory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675" y="453390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Transitioning consumer wearables into certified medical diagnostic tools requires strict FDA / CE approval processes.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1962150"/>
            <a:ext cx="167729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2076450"/>
            <a:ext cx="215354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4257675"/>
            <a:ext cx="186779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4257675"/>
            <a:ext cx="234404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Technical Challenges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66950"/>
            <a:ext cx="5467350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266950"/>
            <a:ext cx="5467350" cy="107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533775"/>
            <a:ext cx="5467350" cy="1076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533775"/>
            <a:ext cx="5467350" cy="1076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4957762"/>
            <a:ext cx="123825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4943475"/>
            <a:ext cx="8439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Conclude this slide by noting that wearables will transition from "devices we wear" to invisible computing built into everyday life.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801" y="2466975"/>
            <a:ext cx="496421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Brain-Computer Interfaces (BCI)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743200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Non-invasive neural headbands translating brainwaves into digital commands to control smart home devices hands-free.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2651" y="2466975"/>
            <a:ext cx="496421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Implantable Bio-Sensors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2743200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Sub-dermal micro-sensors giving continuous biochemical readings for decades with zero daily maintenance.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851" y="3733800"/>
            <a:ext cx="4944211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Full Ambient Smart Home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010025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Wearables automatically adjusting room temperature, lighting, and audio based on the user's detected stress or sleep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701" y="3733800"/>
            <a:ext cx="4944211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Smart Contact Lenses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010025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In-eye displays providing augmented reality navigation overlays while sensing glucose levels from tear fluid.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490787"/>
            <a:ext cx="16802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490787"/>
            <a:ext cx="16802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3757612"/>
            <a:ext cx="187076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3757612"/>
            <a:ext cx="187076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Future Scope of Wearables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24050"/>
            <a:ext cx="53911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1895475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Overview: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Devices like the Apple Watch Series or Fitbit Sense act as comprehensive health centers.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486025"/>
            <a:ext cx="512445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Sensors Integrated: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819525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Data Processing: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High-frequency sampling processed locally, flagging irregular rhythms (AFib) before cloud backup.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410075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Impact: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Shifting healthcare from reactive treatment to proactive daily prevention.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5253037"/>
            <a:ext cx="123825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300" y="5162550"/>
            <a:ext cx="4905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Focus on the ECG feature as a concrete example of medical technology miniaturized for consumers.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1933575"/>
            <a:ext cx="537210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57300" y="2771775"/>
            <a:ext cx="4667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Optical PPG (Heart Rate &amp; Blood Oxygen)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" y="3000375"/>
            <a:ext cx="4667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Electrical Heart Sensor (Single-lead ECG)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3228975"/>
            <a:ext cx="4667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3-axis Accelerometer &amp; Gyroscope (Fall Detection)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" y="3457575"/>
            <a:ext cx="4667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Temperature Sensor &amp; Altimeter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Case Study: Smartwatch Ecosystem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914525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505075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83857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429125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790825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3019425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3248025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347662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1490662"/>
            <a:ext cx="1112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Example: How a smartwatch detects an abnormally high resting heart rate and alerts the user.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5734050"/>
            <a:ext cx="123825" cy="123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5719762"/>
            <a:ext cx="6734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Walk through this logical chain to prove you understand how hardware and software work together.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015" y="2121693"/>
            <a:ext cx="2857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463" y="2638425"/>
            <a:ext cx="104775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4015" y="3088481"/>
            <a:ext cx="2857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463" y="3605212"/>
            <a:ext cx="104775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4015" y="4055268"/>
            <a:ext cx="2857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463" y="4572000"/>
            <a:ext cx="10477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4015" y="5022056"/>
            <a:ext cx="2857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22165" y="2033587"/>
            <a:ext cx="66008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Step 1: Continuous Data Sensing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2165" y="2214562"/>
            <a:ext cx="62865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Optical PPG green LEDs flash against the wrist skin to measure blood flow volume changes every second.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165" y="3000375"/>
            <a:ext cx="505063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Step 2: On-Board Microcontroller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2165" y="3181350"/>
            <a:ext cx="4810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The MCU filters movement noise and calculates current Beats Per Minute (BPM).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2165" y="3967162"/>
            <a:ext cx="643080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Step 3: Threshold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165" y="4148137"/>
            <a:ext cx="612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If BPM &gt; 120 while accelerometer shows zero physical activity for 10 minutes, an anomaly flag is raised.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165" y="4933950"/>
            <a:ext cx="71208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Step 4: User Notification &amp; Cloud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2165" y="5114925"/>
            <a:ext cx="67818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Haptic motor vibrates the wrist to warn the user, and event log is synced to the smartphone app for doctor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 Processing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443412"/>
            <a:ext cx="11125200" cy="600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871662"/>
            <a:ext cx="5467350" cy="107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871662"/>
            <a:ext cx="5467350" cy="1076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138487"/>
            <a:ext cx="5467350" cy="1076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138487"/>
            <a:ext cx="5467350" cy="1076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4614862"/>
            <a:ext cx="10668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FFFFFF"/>
                </a:solidFill>
                <a:latin typeface="Inter"/>
              </a:rPr>
              <a:t>"Wearable technology is moving from simple tracking gadgets toward intelligent, proactive personal computing systems."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5353050"/>
            <a:ext cx="12382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5338762"/>
            <a:ext cx="5953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Speaker Tip:</a:t>
            </a:r>
            <a:r>
              <a:rPr sz="975" b="0" i="0" u="none">
                <a:solidFill>
                  <a:srgbClr val="1E40AF"/>
                </a:solidFill>
                <a:latin typeface="Inter"/>
              </a:rPr>
              <a:t> Reiterate this concluding takeaway statement clearly to end your presentation strongly.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701" y="2071687"/>
            <a:ext cx="5004219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Personal Tech Evolution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347912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Wearables shift computing closer to the human body, providing seamless hands-free interaction.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701" y="2071687"/>
            <a:ext cx="4944211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Healthcare Transformation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2347912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Continuous monitoring transforms medicine from periodic check-ups to proactive daily wellness.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4801" y="3338512"/>
            <a:ext cx="496421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Engineering Synergy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614737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Combines low-power hardware, biosensors, wireless protocols, and AI algorithms.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4551" y="3338512"/>
            <a:ext cx="5004219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Promising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614737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Future innovations in e-textiles, energy harvesting, and edge AI will make wearables invisible yet indispensable.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095500"/>
            <a:ext cx="129926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2095500"/>
            <a:ext cx="187076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362325"/>
            <a:ext cx="168026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3362325"/>
            <a:ext cx="129926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Conclusion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1831181"/>
            <a:ext cx="111252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450306"/>
            <a:ext cx="111252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069431"/>
            <a:ext cx="111252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688556"/>
            <a:ext cx="111252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4307681"/>
            <a:ext cx="111252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6700" y="5079206"/>
            <a:ext cx="11658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lus Jakarta Sans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422106"/>
            <a:ext cx="111252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Questions &amp; Answers 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307431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2025" y="1974056"/>
            <a:ext cx="98679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MDPI Electronics Survey (2025):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"A Comprehensive Survey on Wearable Computing for Mental and Physical Health Monitoring."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MDPI Journal of Electronics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2926556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2025" y="2593181"/>
            <a:ext cx="7562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IEEE Communications Surveys &amp; Tutorials: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"A Survey of Wearable Devices and Challenges."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IEEE Xplore Digital Library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545681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2025" y="3212306"/>
            <a:ext cx="84105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MDPI Sensors (2021):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"Review of Wearable Devices and Data Collection Considerations for Connected Health."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MDPI Sensors Journal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4164806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2025" y="3831431"/>
            <a:ext cx="6705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ResearchGate Systematic Review: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"Wearable Activity Trackers: A Survey on Utility, Privacy, and Security."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783931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2025" y="4450556"/>
            <a:ext cx="75723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Industry Technical Documentation: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Official Developer Guides from Apple HealthKit, Google Fit SDK, and Fitbit Research.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993106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612231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231356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850481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4469606"/>
            <a:ext cx="13335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References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2581275"/>
            <a:ext cx="11125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3352800"/>
            <a:ext cx="11125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334327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334327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411480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411480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72415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8775" y="2731293"/>
            <a:ext cx="100298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https://zestyears.com/wp-content/uploads/2025/05/Firefly_Gemini-Flash_Remove-writing-on-the-white-airpod-case.-664888.png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8775" y="2964656"/>
            <a:ext cx="100298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zestyears.com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49567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28775" y="3502818"/>
            <a:ext cx="100298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https://www.allaboutcircuits.com/uploads/articles/ChemPhys_wearable_sensors-2.jpg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8775" y="3736181"/>
            <a:ext cx="100298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www.allaboutcircuits.com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267200"/>
            <a:ext cx="14478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28775" y="4274343"/>
            <a:ext cx="100298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https://cdn.nwe.io/files/x/e6/b9/4fa07b4a540b21b88af17307db18.jpg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8775" y="4507706"/>
            <a:ext cx="100298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www.newswire.com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" y="83820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1867</Words>
  <Application>Microsoft Office PowerPoint</Application>
  <PresentationFormat>Widescreen</PresentationFormat>
  <Paragraphs>183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Inter</vt:lpstr>
      <vt:lpstr>Inter SemiBold</vt:lpstr>
      <vt:lpstr>Plus Jakarta Sans</vt:lpstr>
      <vt:lpstr>Plus Jakarta Sans ExtraBold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Teja Reddy</dc:creator>
  <cp:keywords/>
  <dc:description>generated using python-pptx</dc:description>
  <cp:lastModifiedBy>saiteja reddy pucha</cp:lastModifiedBy>
  <cp:revision>2</cp:revision>
  <dcterms:created xsi:type="dcterms:W3CDTF">2013-01-27T09:14:16Z</dcterms:created>
  <dcterms:modified xsi:type="dcterms:W3CDTF">2026-08-21T04:06:28Z</dcterms:modified>
  <cp:category/>
</cp:coreProperties>
</file>